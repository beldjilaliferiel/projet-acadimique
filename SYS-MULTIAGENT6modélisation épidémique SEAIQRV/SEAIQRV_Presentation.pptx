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4" r:id="rId7"/>
    <p:sldId id="270" r:id="rId8"/>
    <p:sldId id="265" r:id="rId9"/>
    <p:sldId id="266" r:id="rId10"/>
    <p:sldId id="267" r:id="rId11"/>
    <p:sldId id="268" r:id="rId12"/>
    <p:sldId id="261" r:id="rId13"/>
    <p:sldId id="262" r:id="rId14"/>
    <p:sldId id="272" r:id="rId15"/>
    <p:sldId id="271" r:id="rId16"/>
    <p:sldId id="26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36" y="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157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40080"/>
            <a:ext cx="41148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Master 1 — Systèmes Multi-Agents • 2025–2026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Modèle de Propagation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46534" y="18333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2C39A"/>
                </a:solidFill>
              </a:rPr>
              <a:t>d'Épidémie par Automate Cellulaire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4A3B8"/>
                </a:solidFill>
              </a:rPr>
              <a:t>Extension SIR → SEAIQRV  •  Réseau de Watts-Strogatz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50292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375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Hajar EL Barhdadi  •  Feriel Beldjilali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94A3B8"/>
                </a:solidFill>
              </a:rPr>
              <a:t>Encadrant : Franck Delaplace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1005840"/>
            <a:ext cx="475488" cy="47548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0" y="1554480"/>
            <a:ext cx="475488" cy="475488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60755" y="749808"/>
            <a:ext cx="475488" cy="47548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8847" y="75666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55280" y="2194560"/>
            <a:ext cx="475488" cy="47548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49440" y="2834640"/>
            <a:ext cx="475488" cy="47548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63840" y="3291840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0" y="3474720"/>
            <a:ext cx="475488" cy="47548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PROBLÉMATIQUE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Pourquoi aller au-delà du SIR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560320" cy="3383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Modèle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SIR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</a:rPr>
              <a:t>S → I → 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</a:rPr>
              <a:t>Population homogène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</a:rPr>
              <a:t>Mélange parfait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</a:rPr>
              <a:t>Pas de structure spatiale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234440"/>
            <a:ext cx="5715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234440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61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⏱  Aucune période d'incubation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15361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</a:rPr>
              <a:t>Infecté → contagieux instantanément (irréaliste)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1892808"/>
            <a:ext cx="5715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1892808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920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👻  Pas d'asymptomatiques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2194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</a:rPr>
              <a:t>Or ~25–70% des infectés ne montrent aucun symptôme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2551176"/>
            <a:ext cx="5715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2551176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578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🚫  Absence de quarantaine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46120" y="2852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</a:rPr>
              <a:t>Aucune mesure d'isolement modélisable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3209544"/>
            <a:ext cx="5715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3209544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2369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💉  Pas de vaccination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46120" y="35112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</a:rPr>
              <a:t>Campagnes dynamiques impossibles à simuler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3867912"/>
            <a:ext cx="5715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3867912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8953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🌐  Structure spatiale ignorée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4169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</a:rPr>
              <a:t>Grille uniforme ≠ réseau social réel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MODÈLE SEAIQRV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7 compartiments épidémiologiques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1168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201168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99032"/>
            <a:ext cx="475488" cy="47548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99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1417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Susceptible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947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Individu sain, aucune immunité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C39A"/>
                </a:solidFill>
              </a:rPr>
              <a:t>Timer : —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1234440"/>
            <a:ext cx="201168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1234440"/>
            <a:ext cx="201168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6312" y="1399032"/>
            <a:ext cx="475488" cy="475488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399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44952" y="1417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Exposed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96312" y="1947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En incubation, non contagieux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96312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C39A"/>
                </a:solidFill>
              </a:rPr>
              <a:t>Timer : 3 j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1234440"/>
            <a:ext cx="201168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1234440"/>
            <a:ext cx="201168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5152" y="1399032"/>
            <a:ext cx="475488" cy="47548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1399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93792" y="1417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Infectious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45152" y="1947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Infectieux symptomatique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45152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C39A"/>
                </a:solidFill>
              </a:rPr>
              <a:t>Timer : 7 j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20840" y="1234440"/>
            <a:ext cx="201168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1234440"/>
            <a:ext cx="2011680" cy="73152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1399032"/>
            <a:ext cx="475488" cy="47548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1399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42632" y="1417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Asymptomatic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93992" y="1947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Contagieux non détectable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93992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C39A"/>
                </a:solidFill>
              </a:rPr>
              <a:t>Timer : 7 j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880360"/>
            <a:ext cx="201168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880360"/>
            <a:ext cx="2011680" cy="731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3044952"/>
            <a:ext cx="475488" cy="47548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96112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Quarantine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" y="3593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Isolé, ne contamine plus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7472" y="4023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C39A"/>
                </a:solidFill>
              </a:rPr>
              <a:t>Timer : 7 j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23160" y="2880360"/>
            <a:ext cx="201168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2880360"/>
            <a:ext cx="201168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96312" y="3044952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6312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044952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Recovered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496312" y="3593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Guéri et immunisé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496312" y="4023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C39A"/>
                </a:solidFill>
              </a:rPr>
              <a:t>Timer : —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0" y="2880360"/>
            <a:ext cx="201168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2880360"/>
            <a:ext cx="201168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45152" y="3044952"/>
            <a:ext cx="475488" cy="47548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193792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Vaccinated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645152" y="3593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Vacciné et immunisé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645152" y="4023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C39A"/>
                </a:solidFill>
              </a:rPr>
              <a:t>Timer : —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FORMALISME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</a:rPr>
              <a:t>Automate cellulaire &amp; règles de transition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14800" cy="3611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41148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Définition formelle  A = (G, Q, N, δ, c₀)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5486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6733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Grille 80×80 = 6 400 individus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5486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{S,E,I,A,Q,R,V} × (ℕ ∪ {∅})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5486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78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N(c)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624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Voisinage de Moore, rayon 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54096"/>
            <a:ext cx="5486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54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0998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Fonction de transition locale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9584"/>
            <a:ext cx="5486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9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5753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Configuration initiale aléatoire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374904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96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2C39A"/>
                </a:solidFill>
              </a:rPr>
              <a:t>β = Virulence × C_connection × M_mobility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325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4C430"/>
                </a:solidFill>
              </a:rPr>
              <a:t>p_inf(c) = β × |voisins I ou A| / |N(c)|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1170432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Logique de transition état par état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1709928"/>
            <a:ext cx="347472" cy="347472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20640" y="171907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C430"/>
                </a:solidFill>
              </a:rPr>
              <a:t>→ 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20640" y="19385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</a:rPr>
              <a:t>avec prob. ω (vaccination)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258568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20640" y="22677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→ 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20640" y="2487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</a:rPr>
              <a:t>si voisin I/A, prob. p_inf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807208"/>
            <a:ext cx="347472" cy="347472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20640" y="28163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623"/>
                </a:solidFill>
              </a:rPr>
              <a:t>→ I / 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20640" y="30358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</a:rPr>
              <a:t>timer=0, selon P_asym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355848"/>
            <a:ext cx="347472" cy="34747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120640" y="336499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B6"/>
                </a:solidFill>
              </a:rPr>
              <a:t>→ Q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120640" y="3584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</a:rPr>
              <a:t>avec prob. P_Q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390448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I/A/Q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20640" y="391363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→ 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12064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</a:rPr>
              <a:t>à timer=0 (guérison)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CALIBRATION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</a:rPr>
              <a:t>Paramètres clés &amp; scénarios testés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70432"/>
          <a:ext cx="5760720" cy="36118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Paramètre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Valeur défaut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Virulence (V)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Prob. de transmission/contact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β = V·C·M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Force de transmission effective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Tincubation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3 jours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Durée phase 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Tinfectious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7 jours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Durée phase I / 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P_asym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0.25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Fraction asymptomatiques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P_quarantine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Prob. isolement des 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ω (vaccination)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Taux vaccination dynamique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621792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6 Scénarios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581912"/>
            <a:ext cx="384048" cy="38404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93408" y="15636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Grippe saisonnière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693408" y="17739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3A5C"/>
                </a:solidFill>
              </a:rPr>
              <a:t>Baseline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17920" y="2130552"/>
            <a:ext cx="384048" cy="384048"/>
          </a:xfrm>
          <a:prstGeom prst="ellipse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93408" y="2112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Haute mobilité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93408" y="2322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3A5C"/>
                </a:solidFill>
              </a:rPr>
              <a:t>Rougeole / COVID dense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0" y="2679192"/>
            <a:ext cx="384048" cy="38404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93408" y="26609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Quarantaine stricte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693408" y="28712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3A5C"/>
                </a:solidFill>
              </a:rPr>
              <a:t>Ebola (PQ=0.80)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17920" y="3227832"/>
            <a:ext cx="384048" cy="38404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93408" y="32095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Vaccination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693408" y="34198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3A5C"/>
                </a:solidFill>
              </a:rPr>
              <a:t>COVID-19 2021 (ω=0.08)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217920" y="3776472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693408" y="37581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Protection combinée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693408" y="39684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3A5C"/>
                </a:solidFill>
              </a:rPr>
              <a:t>Corée du Sud + NZ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217920" y="4325112"/>
            <a:ext cx="384048" cy="38404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693408" y="43068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Variant Omicron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693408" y="4517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3A5C"/>
                </a:solidFill>
              </a:rPr>
              <a:t>Échappement vaccinal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A — Grippe saisonnière (Baseline)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/home/claude/scenario_imgs/final_A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868680"/>
            <a:ext cx="713232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final (pas 150)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635240" y="868680"/>
            <a:ext cx="132588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0960" y="12070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6 400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8096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≈ 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0" y="19019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population infectée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635240" y="2423160"/>
            <a:ext cx="1325880" cy="20116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68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680960" y="2761488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intervention, le virus se propage jusqu'à saturation complète. Pic au jour ~25. Cohérent avec la théorie pour R₀ &gt; 1.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009305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B — Haute mobilité (Rougeole / COVID dense)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/home/claude/scenario_imgs/final_B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868680"/>
            <a:ext cx="713232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final (pas 150)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635240" y="868680"/>
            <a:ext cx="132588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0960" y="12070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6 200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8096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≈ 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0" y="19019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au jour ~10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635240" y="2423160"/>
            <a:ext cx="1325880" cy="20116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68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680960" y="2761488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r=3 (48 voisins) accélère la propagation 2,5× plus vite que le scénario A. La mobilité est le facteur amplificateur le plus puissant.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258753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C — Quarantaine stricte (Ebola)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/home/claude/scenario_imgs/final_C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868680"/>
            <a:ext cx="713232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final (pas 150)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635240" y="868680"/>
            <a:ext cx="132588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0960" y="12070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4 900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8096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≈ 600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0" y="19019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individus jamais infectés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635240" y="2423160"/>
            <a:ext cx="1325880" cy="20116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68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680960" y="2761488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 = 0.80 réduit significativement la propagation. Limite : les asymptomatiques (A) non détectables continuent à se propager librement.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276849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D — Campagne de vaccination (COVID-19 2021)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/home/claude/scenario_imgs/final_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868680"/>
            <a:ext cx="713232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final (pas 150)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635240" y="868680"/>
            <a:ext cx="132588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0960" y="12070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4 500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8096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≈ 1 900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0" y="19019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Immunité collective atteinte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635240" y="2423160"/>
            <a:ext cx="1325880" cy="20116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68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680960" y="2761488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0.08 convertit progressivement S en V, réduisant le pool de cibles. ~1 900 individus protégés sans avoir été infectés.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439768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E — Protection combinée (Corée du Sud + Nouvelle-Zélande)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/home/claude/scenario_imgs/final_E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868680"/>
            <a:ext cx="713232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final (pas 150)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635240" y="868680"/>
            <a:ext cx="132588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0960" y="12070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4 500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8096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≈ 1 900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0" y="19019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I = A = Q = 0 : extinction totale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635240" y="2423160"/>
            <a:ext cx="1325880" cy="20116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68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680960" y="2761488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résultat. Quarantaine + vaccination agissent en synergie : extinction épidémique plus rapide que D seul. Stratégie optimale confirmée.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407654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F — Variant Omicron (Échappement vaccinal)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/home/claude/scenario_imgs/final_F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868680"/>
            <a:ext cx="713232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final (pas 150)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635240" y="868680"/>
            <a:ext cx="132588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0960" y="12070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6 400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8096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≈ 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0" y="19019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population infectée en ~20–35 jours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635240" y="2423160"/>
            <a:ext cx="1325880" cy="20116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68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680960" y="2761488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catastrophe : virulence 0.80, PA=0.60, réinfection vaccinés 15%. La vaccination arrive trop tard. Reproduit fidèlement la vague Omicron jan. 2022.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89814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2060"/>
                </a:solidFill>
              </a:rPr>
              <a:t>Résultats comparatifs des 6 scénarios</a:t>
            </a:r>
            <a:endParaRPr lang="en-US" sz="2500" dirty="0">
              <a:solidFill>
                <a:srgbClr val="002060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70432"/>
          <a:ext cx="7223760" cy="3200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Scénario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tₚₑₐₖ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R(∞)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V(∞)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S(∞)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Efficacité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 — Grippe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~25 j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~6400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Référence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 — Rougeole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~10 j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~6400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⚠ Pire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 — Ebola (Q)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~15 j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~4900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~600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✓ Bonne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 — Vaccination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~15 j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~4500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~1900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✓ Bonne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 — Combiné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~15 j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~4500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~1900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C39A"/>
                          </a:solidFill>
                        </a:rPr>
                        <a:t>★ Très bonne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 — Omicron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~10 j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~6400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✗ Ingérable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💡  Scénario E (Quarantaine + Vaccination) = stratégie optimale  —  extinction totale confirmée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EXTENSION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</a:rPr>
              <a:t>Réseau de petit monde — Watts-Strogatz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02336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402336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Motivation &amp; paramètres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grille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torique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impose des contacts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réguliers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locaux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irréaliste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3113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3113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Watts-Strogatz G(N, k=6, p=0.12)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79806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9806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Fort clustering + faible diamètre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36499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64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Raccourcis simulant voyages &amp; transports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93192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31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Propagation hétérogène et fragmentée</a:t>
            </a:r>
            <a:endParaRPr lang="en-US" sz="1100" dirty="0"/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594" y="1081338"/>
            <a:ext cx="3509510" cy="37992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16" y="339737"/>
            <a:ext cx="8415773" cy="443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85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193" y="263418"/>
            <a:ext cx="5807449" cy="488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77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Bilan &amp; perspectives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73152" cy="1097280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280160"/>
            <a:ext cx="411480" cy="411480"/>
          </a:xfrm>
          <a:prstGeom prst="ellipse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261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Mobilité = amplificateur majeur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627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Rayon élargi → pic 2,5× plus rapide (j10 vs j25)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04872"/>
            <a:ext cx="420624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04872"/>
            <a:ext cx="73152" cy="10972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514600"/>
            <a:ext cx="411480" cy="4114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496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Quarantaine seule insuffisante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8620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Les asymptomatiques échappent à tout isolement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420624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639312"/>
            <a:ext cx="73152" cy="109728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749040"/>
            <a:ext cx="411480" cy="411480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730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Vaccination = protection progressive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40965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Nécessite du temps avant effet significatif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170432"/>
            <a:ext cx="420624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170432"/>
            <a:ext cx="73152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128016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1261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Combinaison = stratégie gagnante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1627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Scénario E : extinction totale, S=I=A=Q=0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404872"/>
            <a:ext cx="420624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404872"/>
            <a:ext cx="73152" cy="10972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472" y="2514600"/>
            <a:ext cx="411480" cy="41148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2496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Variants très transmissibles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28620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Omicron dépasse les capacités de réponse isolées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639312"/>
            <a:ext cx="420624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639312"/>
            <a:ext cx="73152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3749040"/>
            <a:ext cx="411480" cy="4114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40680" y="3730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Structure réseau déterminante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0680" y="40965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Watts-Strogatz : 31% vs 100% taux d'attaque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480560"/>
            <a:ext cx="8686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Perspectives :  Réseaux scale-free  •  Super-propagateurs  •  Stratification par âge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1014</Words>
  <Application>Microsoft Office PowerPoint</Application>
  <PresentationFormat>Affichage à l'écran (16:9)</PresentationFormat>
  <Paragraphs>267</Paragraphs>
  <Slides>16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SEAIQRV — Propagation d'Épidémie par Automate Cellulaire</dc:title>
  <dc:subject>PptxGenJS Presentation</dc:subject>
  <dc:creator>PptxGenJS</dc:creator>
  <cp:lastModifiedBy>HP</cp:lastModifiedBy>
  <cp:revision>4</cp:revision>
  <dcterms:created xsi:type="dcterms:W3CDTF">2026-05-11T18:38:55Z</dcterms:created>
  <dcterms:modified xsi:type="dcterms:W3CDTF">2026-05-11T20:30:07Z</dcterms:modified>
</cp:coreProperties>
</file>