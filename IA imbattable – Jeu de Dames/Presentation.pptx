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50" d="100"/>
          <a:sy n="50" d="100"/>
        </p:scale>
        <p:origin x="1740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11951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657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300" dirty="0">
                <a:solidFill>
                  <a:srgbClr val="5A6888"/>
                </a:solidFill>
              </a:rPr>
              <a:t>TRAVAIL D'ÉTUDE ET DE RECHERCHE · 2025–2026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 IA Imbattable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73736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F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 Jeu de Dames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00C8FF"/>
                </a:solidFill>
              </a:rPr>
              <a:t>Monte Carlo Tree Search Amélioré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3CF"/>
                </a:solidFill>
              </a:rPr>
              <a:t>Hajar El Barhdadi · Feriel Beldjilali · Wissam Sadok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888"/>
                </a:solidFill>
              </a:rPr>
              <a:t>Encadrant : Blaise Hanczar  ·  Université Évry Paris-Saclay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4754880"/>
            <a:ext cx="5486400" cy="36576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pic>
        <p:nvPicPr>
          <p:cNvPr id="13" name="Picture 2" descr="https://cdn.gamma.app/6oalj2h27ftexph/158d8aff26984a86804eecd429a214a8/original/Digital_logo_Universit-C3-A9_d-27-C3-89vry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147" y="-32352"/>
            <a:ext cx="3438386" cy="1703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hape 7"/>
          <p:cNvSpPr/>
          <p:nvPr/>
        </p:nvSpPr>
        <p:spPr>
          <a:xfrm>
            <a:off x="457200" y="2697480"/>
            <a:ext cx="4389120" cy="1280160"/>
          </a:xfrm>
          <a:prstGeom prst="rect">
            <a:avLst/>
          </a:prstGeom>
          <a:solidFill>
            <a:srgbClr val="1C2B3F"/>
          </a:solidFill>
          <a:ln w="19050">
            <a:noFill/>
            <a:prstDash val="solid"/>
          </a:ln>
          <a:effectLst/>
          <a:scene3d>
            <a:camera prst="orthographicFront">
              <a:rot lat="0" lon="0" rev="0"/>
            </a:camera>
            <a:lightRig rig="chilly" dir="t">
              <a:rot lat="0" lon="0" rev="18480000"/>
            </a:lightRig>
          </a:scene3d>
          <a:sp3d prstMaterial="clear">
            <a:bevelT h="63500"/>
          </a:sp3d>
        </p:spPr>
      </p:sp>
      <p:sp>
        <p:nvSpPr>
          <p:cNvPr id="21" name="Shape 0"/>
          <p:cNvSpPr/>
          <p:nvPr/>
        </p:nvSpPr>
        <p:spPr>
          <a:xfrm>
            <a:off x="6583680" y="-1371600"/>
            <a:ext cx="4572000" cy="4572000"/>
          </a:xfrm>
          <a:prstGeom prst="ellipse">
            <a:avLst/>
          </a:prstGeom>
          <a:solidFill>
            <a:srgbClr val="00FFB2">
              <a:alpha val="8000"/>
            </a:srgbClr>
          </a:solidFill>
          <a:ln w="12700">
            <a:solidFill>
              <a:srgbClr val="00FFB2">
                <a:alpha val="30000"/>
              </a:srgbClr>
            </a:solidFill>
            <a:prstDash val="solid"/>
          </a:ln>
        </p:spPr>
      </p:sp>
      <p:sp>
        <p:nvSpPr>
          <p:cNvPr id="22" name="Shape 1"/>
          <p:cNvSpPr/>
          <p:nvPr/>
        </p:nvSpPr>
        <p:spPr>
          <a:xfrm>
            <a:off x="7772400" y="3200400"/>
            <a:ext cx="1828800" cy="1828800"/>
          </a:xfrm>
          <a:prstGeom prst="ellipse">
            <a:avLst/>
          </a:prstGeom>
          <a:solidFill>
            <a:srgbClr val="00C8FF">
              <a:alpha val="12000"/>
            </a:srgbClr>
          </a:solidFill>
          <a:ln w="12700">
            <a:solidFill>
              <a:srgbClr val="00C8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400" dirty="0">
                <a:solidFill>
                  <a:srgbClr val="5A6888"/>
                </a:solidFill>
              </a:rPr>
              <a:t>PLAN DE LA PRÉSENTATION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nous allons voir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4023360" cy="777240"/>
          </a:xfrm>
          <a:prstGeom prst="rect">
            <a:avLst/>
          </a:prstGeom>
          <a:solidFill>
            <a:srgbClr val="151D2E"/>
          </a:solidFill>
          <a:ln w="19050">
            <a:solidFill>
              <a:srgbClr val="00FF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66928" y="15087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51560" y="14538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Problématique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F"/>
                </a:solidFill>
              </a:rPr>
              <a:t>Le défi de l'espace de recherche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417320"/>
            <a:ext cx="4023360" cy="777240"/>
          </a:xfrm>
          <a:prstGeom prst="rect">
            <a:avLst/>
          </a:prstGeom>
          <a:solidFill>
            <a:srgbClr val="151D2E"/>
          </a:solidFill>
          <a:ln w="19050">
            <a:solidFill>
              <a:srgbClr val="00C8F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64608" y="150876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349240" y="145389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Algorithme MCTS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4924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F"/>
                </a:solidFill>
              </a:rPr>
              <a:t>Les 4 phases fondamentales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4023360" cy="777240"/>
          </a:xfrm>
          <a:prstGeom prst="rect">
            <a:avLst/>
          </a:prstGeom>
          <a:solidFill>
            <a:srgbClr val="151D2E"/>
          </a:solidFill>
          <a:ln w="19050">
            <a:solidFill>
              <a:srgbClr val="9B5DE5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66928" y="25146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5D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51560" y="24597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Nos Contributions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5156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F"/>
                </a:solidFill>
              </a:rPr>
              <a:t>Rollouts guidés + score continu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2423160"/>
            <a:ext cx="4023360" cy="777240"/>
          </a:xfrm>
          <a:prstGeom prst="rect">
            <a:avLst/>
          </a:prstGeom>
          <a:solidFill>
            <a:srgbClr val="151D2E"/>
          </a:solidFill>
          <a:ln w="19050">
            <a:solidFill>
              <a:srgbClr val="FFD166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64608" y="251460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349240" y="245973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Implémentation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49240" y="27889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F"/>
                </a:solidFill>
              </a:rPr>
              <a:t>Architecture &amp; interface graphique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29000"/>
            <a:ext cx="4023360" cy="777240"/>
          </a:xfrm>
          <a:prstGeom prst="rect">
            <a:avLst/>
          </a:prstGeom>
          <a:solidFill>
            <a:srgbClr val="151D2E"/>
          </a:solidFill>
          <a:ln w="19050">
            <a:solidFill>
              <a:srgbClr val="FF9E4F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6928" y="35204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9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51560" y="34655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Résultats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5156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F"/>
                </a:solidFill>
              </a:rPr>
              <a:t>+72% winrate vs MCTS classique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429000"/>
            <a:ext cx="4023360" cy="777240"/>
          </a:xfrm>
          <a:prstGeom prst="rect">
            <a:avLst/>
          </a:prstGeom>
          <a:solidFill>
            <a:srgbClr val="151D2E"/>
          </a:solidFill>
          <a:ln w="19050">
            <a:solidFill>
              <a:srgbClr val="00FFB2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64608" y="3520440"/>
            <a:ext cx="457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349240" y="3465576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Conclusion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49240" y="37947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F"/>
                </a:solidFill>
              </a:rPr>
              <a:t>Valeur ajoutée &amp; perspectives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FFB2"/>
                </a:solidFill>
              </a:rPr>
              <a:t>01  PROBLÉMATIQUE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 jeu simple… un espace immense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23360" cy="2560320"/>
          </a:xfrm>
          <a:prstGeom prst="rect">
            <a:avLst/>
          </a:prstGeom>
          <a:solidFill>
            <a:srgbClr val="151D2E"/>
          </a:solidFill>
          <a:ln w="25400">
            <a:solidFill>
              <a:srgbClr val="00FF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4173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× 10²⁰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8B3CF"/>
                </a:solidFill>
              </a:rPr>
              <a:t>positions légales possibles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 smtClean="0">
                <a:solidFill>
                  <a:srgbClr val="FF6B6B"/>
                </a:solidFill>
              </a:rPr>
              <a:t>→ </a:t>
            </a:r>
            <a:r>
              <a:rPr lang="en-US" sz="1100" i="1" dirty="0" err="1" smtClean="0">
                <a:solidFill>
                  <a:srgbClr val="FF6B6B"/>
                </a:solidFill>
              </a:rPr>
              <a:t>L'exploration</a:t>
            </a:r>
            <a:r>
              <a:rPr lang="en-US" sz="1100" i="1" dirty="0" smtClean="0">
                <a:solidFill>
                  <a:srgbClr val="FF6B6B"/>
                </a:solidFill>
              </a:rPr>
              <a:t> exhaustive </a:t>
            </a:r>
            <a:r>
              <a:rPr lang="en-US" sz="1100" i="1" dirty="0" err="1" smtClean="0">
                <a:solidFill>
                  <a:srgbClr val="FF6B6B"/>
                </a:solidFill>
              </a:rPr>
              <a:t>est</a:t>
            </a:r>
            <a:r>
              <a:rPr lang="en-US" sz="1100" i="1" dirty="0" smtClean="0">
                <a:solidFill>
                  <a:srgbClr val="FF6B6B"/>
                </a:solidFill>
              </a:rPr>
              <a:t> impossible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5A6888"/>
                </a:solidFill>
              </a:rPr>
              <a:t>Chinook (Schaeffer, 2007) : des décennies de calcul distribué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749808"/>
          </a:xfrm>
          <a:prstGeom prst="rect">
            <a:avLst/>
          </a:prstGeom>
          <a:solidFill>
            <a:srgbClr val="1E2A3F"/>
          </a:solidFill>
          <a:ln w="12700">
            <a:solidFill>
              <a:srgbClr val="5A6888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380744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349240" y="12801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Espace de jeu vaste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349240" y="156362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F"/>
                </a:solidFill>
              </a:rPr>
              <a:t>Milliards de coups possibles, pas de solution analytique simple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754880" y="2103120"/>
            <a:ext cx="4023360" cy="749808"/>
          </a:xfrm>
          <a:prstGeom prst="rect">
            <a:avLst/>
          </a:prstGeom>
          <a:solidFill>
            <a:srgbClr val="1E2A3F"/>
          </a:solidFill>
          <a:ln w="12700">
            <a:solidFill>
              <a:srgbClr val="5A6888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2249424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349240" y="214884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Évaluation difficile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5349240" y="243230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dirty="0" err="1">
                <a:solidFill>
                  <a:srgbClr val="A8B3CF"/>
                </a:solidFill>
              </a:rPr>
              <a:t>Juger</a:t>
            </a:r>
            <a:r>
              <a:rPr lang="en-US" sz="1000" dirty="0">
                <a:solidFill>
                  <a:srgbClr val="A8B3CF"/>
                </a:solidFill>
              </a:rPr>
              <a:t> la </a:t>
            </a:r>
            <a:r>
              <a:rPr lang="en-US" sz="1000" dirty="0" err="1">
                <a:solidFill>
                  <a:srgbClr val="A8B3CF"/>
                </a:solidFill>
              </a:rPr>
              <a:t>qualité</a:t>
            </a:r>
            <a:r>
              <a:rPr lang="en-US" sz="1000" dirty="0">
                <a:solidFill>
                  <a:srgbClr val="A8B3CF"/>
                </a:solidFill>
              </a:rPr>
              <a:t> </a:t>
            </a:r>
            <a:r>
              <a:rPr lang="en-US" sz="1000" dirty="0" err="1">
                <a:solidFill>
                  <a:srgbClr val="A8B3CF"/>
                </a:solidFill>
              </a:rPr>
              <a:t>d'une</a:t>
            </a:r>
            <a:r>
              <a:rPr lang="en-US" sz="1000" dirty="0">
                <a:solidFill>
                  <a:srgbClr val="A8B3CF"/>
                </a:solidFill>
              </a:rPr>
              <a:t> position </a:t>
            </a:r>
            <a:r>
              <a:rPr lang="en-US" sz="1000" dirty="0" err="1">
                <a:solidFill>
                  <a:srgbClr val="A8B3CF"/>
                </a:solidFill>
              </a:rPr>
              <a:t>requiert</a:t>
            </a:r>
            <a:r>
              <a:rPr lang="en-US" sz="1000" dirty="0">
                <a:solidFill>
                  <a:srgbClr val="A8B3CF"/>
                </a:solidFill>
              </a:rPr>
              <a:t> </a:t>
            </a:r>
            <a:r>
              <a:rPr lang="en-US" sz="1000" dirty="0" err="1">
                <a:solidFill>
                  <a:srgbClr val="A8B3CF"/>
                </a:solidFill>
              </a:rPr>
              <a:t>une</a:t>
            </a:r>
            <a:r>
              <a:rPr lang="en-US" sz="1000" dirty="0">
                <a:solidFill>
                  <a:srgbClr val="A8B3CF"/>
                </a:solidFill>
              </a:rPr>
              <a:t> vision </a:t>
            </a:r>
            <a:r>
              <a:rPr lang="en-US" sz="1000" dirty="0" err="1">
                <a:solidFill>
                  <a:srgbClr val="A8B3CF"/>
                </a:solidFill>
              </a:rPr>
              <a:t>stratégique</a:t>
            </a:r>
            <a:r>
              <a:rPr lang="en-US" sz="1000" dirty="0">
                <a:solidFill>
                  <a:srgbClr val="A8B3CF"/>
                </a:solidFill>
              </a:rPr>
              <a:t> </a:t>
            </a:r>
            <a:r>
              <a:rPr lang="en-US" sz="1000" dirty="0" err="1" smtClean="0">
                <a:solidFill>
                  <a:srgbClr val="A8B3CF"/>
                </a:solidFill>
              </a:rPr>
              <a:t>profonde</a:t>
            </a:r>
            <a:r>
              <a:rPr lang="en-US" sz="1000" dirty="0" smtClean="0">
                <a:solidFill>
                  <a:srgbClr val="A8B3CF"/>
                </a:solidFill>
              </a:rPr>
              <a:t>,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754880" y="2971800"/>
            <a:ext cx="4023360" cy="749808"/>
          </a:xfrm>
          <a:prstGeom prst="rect">
            <a:avLst/>
          </a:prstGeom>
          <a:solidFill>
            <a:srgbClr val="1E2A3F"/>
          </a:solidFill>
          <a:ln w="12700">
            <a:solidFill>
              <a:srgbClr val="5A6888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2040" y="3118104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349240" y="301752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Temps réel contraint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349240" y="3300984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F"/>
                </a:solidFill>
              </a:rPr>
              <a:t>Décision en quelques secondes sur machine personnelle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365760" y="40690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</a:rPr>
              <a:t>Notre réponse : enrichir MCTS avec des heuristiques stratégiques ciblées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365760" y="4041648"/>
            <a:ext cx="8412480" cy="530352"/>
          </a:xfrm>
          <a:prstGeom prst="rect">
            <a:avLst/>
          </a:prstGeom>
          <a:solidFill>
            <a:srgbClr val="FFD166">
              <a:alpha val="10000"/>
            </a:srgbClr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65760" y="4041648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D166"/>
                </a:solidFill>
              </a:rPr>
              <a:t>Notre réponse : enrichir MCTS avec des heuristiques stratégiques ciblées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9B5DE5"/>
                </a:solidFill>
              </a:rPr>
              <a:t>ÉTAT DE L'ART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 premières IA aux systèmes modernes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554480" y="1188720"/>
            <a:ext cx="45720" cy="3474720"/>
          </a:xfrm>
          <a:prstGeom prst="rect">
            <a:avLst/>
          </a:prstGeom>
          <a:solidFill>
            <a:srgbClr val="5A6888"/>
          </a:solidFill>
          <a:ln w="12700">
            <a:solidFill>
              <a:srgbClr val="5A68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17320" y="1234440"/>
            <a:ext cx="274320" cy="274320"/>
          </a:xfrm>
          <a:prstGeom prst="ellipse">
            <a:avLst/>
          </a:prstGeom>
          <a:solidFill>
            <a:srgbClr val="5A6888"/>
          </a:solidFill>
          <a:ln w="12700">
            <a:solidFill>
              <a:srgbClr val="5A68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88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5A6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1950s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74520" y="11430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Minimax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874520" y="1417320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F"/>
                </a:solidFill>
              </a:rPr>
              <a:t>Exploration exhaustive + élagage α-β. Forte dépendance à la fonction d'évaluation.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417320" y="1938528"/>
            <a:ext cx="274320" cy="27432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89280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2006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874520" y="184708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MCTS / UCT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874520" y="2121408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F"/>
                </a:solidFill>
              </a:rPr>
              <a:t>Coulom &amp; Browne : simulations aléatoires équilibrant exploration/exploitation.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17320" y="2642616"/>
            <a:ext cx="274320" cy="274320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596896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B5D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874520" y="25511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MCTS Guidé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874520" y="2825496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F"/>
                </a:solidFill>
              </a:rPr>
              <a:t>Baier &amp; Winands : rollouts orientés par heuristiques simples → meilleure convergence.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417320" y="3346704"/>
            <a:ext cx="274320" cy="27432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30098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2016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74520" y="32552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AlphaGo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874520" y="3529584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F"/>
                </a:solidFill>
              </a:rPr>
              <a:t>Réseaux de neurones + MCTS : nouvelle référence. Notre approche s'en inspire à échelle réduite.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417320" y="4050792"/>
            <a:ext cx="274320" cy="274320"/>
          </a:xfrm>
          <a:prstGeom prst="ellipse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05072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Notre</a:t>
            </a:r>
            <a:endParaRPr lang="en-US" sz="9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travail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874520" y="3959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MCTS Amélioré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874520" y="4233672"/>
            <a:ext cx="6858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F"/>
                </a:solidFill>
              </a:rPr>
              <a:t>Rollouts guidés + score continu sigmoïde. Pas de deep learning, mais stratégie efficace.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C8FF"/>
                </a:solidFill>
              </a:rPr>
              <a:t>02  ALGORITHME MCTS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Monte Carlo Tree Search — 4 phases cycliques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011680" cy="3611880"/>
          </a:xfrm>
          <a:prstGeom prst="rect">
            <a:avLst/>
          </a:prstGeom>
          <a:solidFill>
            <a:srgbClr val="151D2E"/>
          </a:solidFill>
          <a:ln w="25400">
            <a:solidFill>
              <a:srgbClr val="00C8F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960120"/>
            <a:ext cx="640080" cy="640080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A"/>
                </a:solidFill>
              </a:rPr>
              <a:t>1</a:t>
            </a:r>
            <a:endParaRPr lang="en-US" sz="2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69164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6576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C8FF"/>
                </a:solidFill>
              </a:rPr>
              <a:t>SÉLECTION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65760" y="2606040"/>
            <a:ext cx="1828800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65760" y="2606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UCT(i) = X̄ᵢ + C √(ln N / nᵢ</a:t>
            </a:r>
            <a:r>
              <a:rPr lang="en-US" sz="850" dirty="0" smtClean="0">
                <a:solidFill>
                  <a:srgbClr val="00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468880" y="1051560"/>
            <a:ext cx="2011680" cy="3611880"/>
          </a:xfrm>
          <a:prstGeom prst="rect">
            <a:avLst/>
          </a:prstGeom>
          <a:solidFill>
            <a:srgbClr val="151D2E"/>
          </a:solidFill>
          <a:ln w="25400">
            <a:solidFill>
              <a:srgbClr val="9B5DE5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54680" y="960120"/>
            <a:ext cx="640080" cy="640080"/>
          </a:xfrm>
          <a:prstGeom prst="ellipse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54680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A"/>
                </a:solidFill>
              </a:rPr>
              <a:t>2</a:t>
            </a:r>
            <a:endParaRPr lang="en-US" sz="22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6120" y="169164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6032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9B5DE5"/>
                </a:solidFill>
              </a:rPr>
              <a:t>EXPANSION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560320" y="2606040"/>
            <a:ext cx="1828800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560320" y="2606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B5D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Ajouter un nœud enfant non visité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4663440" y="1051560"/>
            <a:ext cx="2011680" cy="3611880"/>
          </a:xfrm>
          <a:prstGeom prst="rect">
            <a:avLst/>
          </a:prstGeom>
          <a:solidFill>
            <a:srgbClr val="151D2E"/>
          </a:solidFill>
          <a:ln w="25400">
            <a:solidFill>
              <a:srgbClr val="FF9E4F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5349240" y="960120"/>
            <a:ext cx="640080" cy="640080"/>
          </a:xfrm>
          <a:prstGeom prst="ellipse">
            <a:avLst/>
          </a:prstGeom>
          <a:solidFill>
            <a:srgbClr val="FF9E4F"/>
          </a:solidFill>
          <a:ln w="12700">
            <a:solidFill>
              <a:srgbClr val="FF9E4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349240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A"/>
                </a:solidFill>
              </a:rPr>
              <a:t>3</a:t>
            </a:r>
            <a:endParaRPr lang="en-US" sz="2200" dirty="0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69164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5488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FF9E4F"/>
                </a:solidFill>
              </a:rPr>
              <a:t>SIMULATION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4754880" y="2606040"/>
            <a:ext cx="1828800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FF9E4F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754880" y="2606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850" dirty="0">
                <a:solidFill>
                  <a:srgbClr val="FF9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Simulation aléatoire jusqu'à état terminal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6858000" y="1051560"/>
            <a:ext cx="2011680" cy="3611880"/>
          </a:xfrm>
          <a:prstGeom prst="rect">
            <a:avLst/>
          </a:prstGeom>
          <a:solidFill>
            <a:srgbClr val="151D2E"/>
          </a:solidFill>
          <a:ln w="25400">
            <a:solidFill>
              <a:srgbClr val="00FFB2"/>
            </a:solidFill>
            <a:prstDash val="solid"/>
          </a:ln>
          <a:effectLst>
            <a:outerShdw blurRad="127000" dist="38100" dir="81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543800" y="960120"/>
            <a:ext cx="640080" cy="640080"/>
          </a:xfrm>
          <a:prstGeom prst="ellipse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543800" y="960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A"/>
                </a:solidFill>
              </a:rPr>
              <a:t>4</a:t>
            </a:r>
            <a:endParaRPr lang="en-US" sz="2200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0" y="1691640"/>
            <a:ext cx="457200" cy="45720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949440" y="2240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0FFB2"/>
                </a:solidFill>
              </a:rPr>
              <a:t>RÉTROPROPAG.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6949440" y="2606040"/>
            <a:ext cx="1828800" cy="41148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949440" y="26060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850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Résultat binaire (victoire/défaite) propagé vers la racine</a:t>
            </a:r>
            <a:endParaRPr lang="en-US" sz="850" dirty="0"/>
          </a:p>
        </p:txBody>
      </p:sp>
      <p:sp>
        <p:nvSpPr>
          <p:cNvPr id="37" name="Shape 31"/>
          <p:cNvSpPr/>
          <p:nvPr/>
        </p:nvSpPr>
        <p:spPr>
          <a:xfrm>
            <a:off x="2240280" y="2788920"/>
            <a:ext cx="137160" cy="36576"/>
          </a:xfrm>
          <a:prstGeom prst="rect">
            <a:avLst/>
          </a:prstGeom>
          <a:solidFill>
            <a:srgbClr val="5A6888"/>
          </a:solidFill>
          <a:ln w="12700">
            <a:solidFill>
              <a:srgbClr val="5A6888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4434840" y="2788920"/>
            <a:ext cx="137160" cy="36576"/>
          </a:xfrm>
          <a:prstGeom prst="rect">
            <a:avLst/>
          </a:prstGeom>
          <a:solidFill>
            <a:srgbClr val="5A6888"/>
          </a:solidFill>
          <a:ln w="12700">
            <a:solidFill>
              <a:srgbClr val="5A6888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6629400" y="2788920"/>
            <a:ext cx="137160" cy="36576"/>
          </a:xfrm>
          <a:prstGeom prst="rect">
            <a:avLst/>
          </a:prstGeom>
          <a:solidFill>
            <a:srgbClr val="5A6888"/>
          </a:solidFill>
          <a:ln w="12700">
            <a:solidFill>
              <a:srgbClr val="5A6888"/>
            </a:solidFill>
            <a:prstDash val="solid"/>
          </a:ln>
        </p:spPr>
      </p:sp>
      <p:pic>
        <p:nvPicPr>
          <p:cNvPr id="40" name="Image 3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4311" y="3186973"/>
            <a:ext cx="1551698" cy="139652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1" name="Image 4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751053" y="3211901"/>
            <a:ext cx="1447333" cy="1371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2" name="Image 4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56659" y="3225330"/>
            <a:ext cx="1425242" cy="135817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43" name="Image 4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63678" y="3227990"/>
            <a:ext cx="1313497" cy="133942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FFB2"/>
                </a:solidFill>
              </a:rPr>
              <a:t>03  NOS CONTRIBUTIONS — Rollouts Guidés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 pas jouer au hasard — jouer intelligemment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114800" cy="1005840"/>
          </a:xfrm>
          <a:prstGeom prst="rect">
            <a:avLst/>
          </a:prstGeom>
          <a:solidFill>
            <a:srgbClr val="FF6B6B">
              <a:alpha val="15000"/>
            </a:srgbClr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</a:rPr>
              <a:t>❌  MCTS Classique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F"/>
                </a:solidFill>
              </a:rPr>
              <a:t>Simulations totalement aléatoires → bruit élevé, coups sous-optimaux, pièces reculent sans raison, estimations instables.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14800" cy="1005840"/>
          </a:xfrm>
          <a:prstGeom prst="rect">
            <a:avLst/>
          </a:prstGeom>
          <a:solidFill>
            <a:srgbClr val="00FFB2">
              <a:alpha val="12000"/>
            </a:srgbClr>
          </a:solidFill>
          <a:ln w="19050">
            <a:solidFill>
              <a:srgbClr val="00FF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28600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B2"/>
                </a:solidFill>
              </a:rPr>
              <a:t>✅  Notre approche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58775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F"/>
                </a:solidFill>
              </a:rPr>
              <a:t>Top 50% des coups sélectionnés selon un score heuristique. On garde la stochasticité tout en éliminant les coups clairement sous-optimaux.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1097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 critères cumulatifs de scoring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709160" y="1508760"/>
            <a:ext cx="4114800" cy="658368"/>
          </a:xfrm>
          <a:prstGeom prst="rect">
            <a:avLst/>
          </a:prstGeom>
          <a:solidFill>
            <a:srgbClr val="1E2A3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154533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smtClean="0">
                <a:solidFill>
                  <a:srgbClr val="FF6B6B"/>
                </a:solidFill>
              </a:rPr>
              <a:t>Captures </a:t>
            </a:r>
            <a:r>
              <a:rPr lang="en-US" sz="1200" b="1" dirty="0" err="1" smtClean="0">
                <a:solidFill>
                  <a:srgbClr val="FF6B6B"/>
                </a:solidFill>
              </a:rPr>
              <a:t>Prioritaires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18288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3CF"/>
                </a:solidFill>
              </a:rPr>
              <a:t>Priorité absolue aux captures — conformément aux règles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709160" y="2286000"/>
            <a:ext cx="4114800" cy="658368"/>
          </a:xfrm>
          <a:prstGeom prst="rect">
            <a:avLst/>
          </a:prstGeom>
          <a:solidFill>
            <a:srgbClr val="1E2A3F"/>
          </a:solidFill>
          <a:ln w="12700">
            <a:solidFill>
              <a:srgbClr val="FF9E4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12080" y="23225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 smtClean="0">
                <a:solidFill>
                  <a:srgbClr val="FF9E4F"/>
                </a:solidFill>
              </a:rPr>
              <a:t>Avancement</a:t>
            </a:r>
            <a:r>
              <a:rPr lang="en-US" sz="1200" b="1" dirty="0" smtClean="0">
                <a:solidFill>
                  <a:srgbClr val="FF9E4F"/>
                </a:solidFill>
              </a:rPr>
              <a:t> </a:t>
            </a:r>
            <a:r>
              <a:rPr lang="en-US" sz="1200" b="1" dirty="0" err="1" smtClean="0">
                <a:solidFill>
                  <a:srgbClr val="FF9E4F"/>
                </a:solidFill>
              </a:rPr>
              <a:t>vers</a:t>
            </a:r>
            <a:r>
              <a:rPr lang="en-US" sz="1200" b="1" dirty="0" smtClean="0">
                <a:solidFill>
                  <a:srgbClr val="FF9E4F"/>
                </a:solidFill>
              </a:rPr>
              <a:t> la promotion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212080" y="26060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3CF"/>
                </a:solidFill>
              </a:rPr>
              <a:t>+r pts (noirs) ou +(7−r) pts (rouges) selon la rangée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09160" y="3063240"/>
            <a:ext cx="4114800" cy="658368"/>
          </a:xfrm>
          <a:prstGeom prst="rect">
            <a:avLst/>
          </a:prstGeom>
          <a:solidFill>
            <a:srgbClr val="1E2A3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309981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</a:rPr>
              <a:t>Contrôle du centre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33832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3CF"/>
                </a:solidFill>
              </a:rPr>
              <a:t>Bonus ∝ à la proximité des colonnes 3–4 (flexibilité tactique)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09160" y="3840480"/>
            <a:ext cx="4114800" cy="658368"/>
          </a:xfrm>
          <a:prstGeom prst="rect">
            <a:avLst/>
          </a:prstGeom>
          <a:solidFill>
            <a:srgbClr val="1E2A3F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0" y="387705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D166"/>
                </a:solidFill>
              </a:rPr>
              <a:t>Bonus roi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12080" y="41605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3CF"/>
                </a:solidFill>
              </a:rPr>
              <a:t>+1 pt si la pièce déplacée est un roi (mobilité supérieure)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544568"/>
            <a:ext cx="8412480" cy="502920"/>
          </a:xfrm>
          <a:prstGeom prst="rect">
            <a:avLst/>
          </a:prstGeom>
          <a:solidFill>
            <a:srgbClr val="00FFB2">
              <a:alpha val="10000"/>
            </a:srgbClr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5445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fr-FR" sz="1200" i="1" dirty="0">
                <a:solidFill>
                  <a:srgbClr val="00FFB2"/>
                </a:solidFill>
              </a:rPr>
              <a:t>On sélectionne aléatoirement parmi le top 50% des coups scorés (</a:t>
            </a:r>
            <a:r>
              <a:rPr lang="fr-FR" sz="1200" i="1" dirty="0" err="1">
                <a:solidFill>
                  <a:srgbClr val="00FFB2"/>
                </a:solidFill>
              </a:rPr>
              <a:t>stochasticité</a:t>
            </a:r>
            <a:r>
              <a:rPr lang="fr-FR" sz="1200" i="1" dirty="0">
                <a:solidFill>
                  <a:srgbClr val="00FFB2"/>
                </a:solidFill>
              </a:rPr>
              <a:t> conservée)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9B5DE5"/>
                </a:solidFill>
              </a:rPr>
              <a:t>03  NOS CONTRIBUTIONS — Score Continu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Remplacer 0/1 par une valeur nuancée ∈ [0, 1]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731520"/>
          </a:xfrm>
          <a:prstGeom prst="rect">
            <a:avLst/>
          </a:prstGeom>
          <a:solidFill>
            <a:srgbClr val="1E2A3F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430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6B"/>
                </a:solidFill>
              </a:rPr>
              <a:t>MCTS Classique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8988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F"/>
                </a:solidFill>
              </a:rPr>
              <a:t>Victoire = 1 · Défaite = 0 · Binarité brutale, haute variance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965960"/>
            <a:ext cx="3931920" cy="731520"/>
          </a:xfrm>
          <a:prstGeom prst="rect">
            <a:avLst/>
          </a:prstGeom>
          <a:solidFill>
            <a:srgbClr val="1E2A3F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01168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FFB2"/>
                </a:solidFill>
              </a:rPr>
              <a:t>Notre Approche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258568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3CF"/>
                </a:solidFill>
              </a:rPr>
              <a:t>Score continu via sigmoïde — positions nuancées, variance réduite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834640"/>
            <a:ext cx="3931920" cy="731520"/>
          </a:xfrm>
          <a:prstGeom prst="rect">
            <a:avLst/>
          </a:prstGeom>
          <a:solidFill>
            <a:srgbClr val="000000">
              <a:alpha val="70000"/>
            </a:srgbClr>
          </a:solidFill>
          <a:ln w="25400">
            <a:solidFill>
              <a:srgbClr val="9B5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80360"/>
            <a:ext cx="3749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 err="1">
                <a:solidFill>
                  <a:srgbClr val="9B5D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résultat</a:t>
            </a:r>
            <a:r>
              <a:rPr lang="en-US" sz="2000" b="1" dirty="0">
                <a:solidFill>
                  <a:srgbClr val="9B5D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2000" b="1" dirty="0" smtClean="0">
              <a:solidFill>
                <a:srgbClr val="9B5DE5"/>
              </a:solidFill>
              <a:latin typeface="Consolas" pitchFamily="34" charset="0"/>
              <a:ea typeface="Consolas" pitchFamily="34" charset="-122"/>
              <a:cs typeface="Consolas" pitchFamily="34" charset="-120"/>
            </a:endParaRPr>
          </a:p>
          <a:p>
            <a:pPr marL="0" indent="0" algn="ctr">
              <a:buNone/>
            </a:pPr>
            <a:r>
              <a:rPr lang="en-US" sz="2000" b="1" dirty="0" smtClean="0">
                <a:solidFill>
                  <a:srgbClr val="9B5D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r>
              <a:rPr lang="en-US" sz="2000" b="1" dirty="0">
                <a:solidFill>
                  <a:srgbClr val="9B5D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 (1 + e^(−Δ/15))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" y="3611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A6888"/>
                </a:solidFill>
              </a:rPr>
              <a:t>Δ = différence de score rouge − noir en faveur du joueur MCTS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0" y="10972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Critères de l'évaluation positionnelle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0" y="1508760"/>
            <a:ext cx="4297680" cy="457200"/>
          </a:xfrm>
          <a:prstGeom prst="rect">
            <a:avLst/>
          </a:prstGeom>
          <a:solidFill>
            <a:srgbClr val="151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554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Pion (base)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406640" y="15544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C8FF"/>
                </a:solidFill>
              </a:rPr>
              <a:t>10 pts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2011680"/>
            <a:ext cx="4297680" cy="457200"/>
          </a:xfrm>
          <a:prstGeom prst="rect">
            <a:avLst/>
          </a:prstGeom>
          <a:solidFill>
            <a:srgbClr val="1E2A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0574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Avancement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406640" y="2057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C8FF"/>
                </a:solidFill>
              </a:rPr>
              <a:t>+3 pts max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2514600"/>
            <a:ext cx="4297680" cy="457200"/>
          </a:xfrm>
          <a:prstGeom prst="rect">
            <a:avLst/>
          </a:prstGeom>
          <a:solidFill>
            <a:srgbClr val="151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2560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Centrage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406640" y="256032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C8FF"/>
                </a:solidFill>
              </a:rPr>
              <a:t>+1 pt (0→1)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0" y="3017520"/>
            <a:ext cx="4297680" cy="457200"/>
          </a:xfrm>
          <a:prstGeom prst="rect">
            <a:avLst/>
          </a:prstGeom>
          <a:solidFill>
            <a:srgbClr val="1E2A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63440" y="3063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Roi (base)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306324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166"/>
                </a:solidFill>
              </a:rPr>
              <a:t>20 pts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3520440"/>
            <a:ext cx="4297680" cy="457200"/>
          </a:xfrm>
          <a:prstGeom prst="rect">
            <a:avLst/>
          </a:prstGeom>
          <a:solidFill>
            <a:srgbClr val="151D2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63440" y="35661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Roi au centre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406640" y="35661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FD166"/>
                </a:solidFill>
              </a:rPr>
              <a:t>+2 × bonus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0" y="4023360"/>
            <a:ext cx="4297680" cy="457200"/>
          </a:xfrm>
          <a:prstGeom prst="rect">
            <a:avLst/>
          </a:prstGeom>
          <a:solidFill>
            <a:srgbClr val="1E2A3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40690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Défense ligne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06640" y="406908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A8B3CF"/>
                </a:solidFill>
              </a:rPr>
              <a:t>+1 pt bonus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44348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A6888"/>
                </a:solidFill>
              </a:rPr>
              <a:t>Le paramètre 15 calibre la sensibilité : légère avance → ~0.5, domination → 1.0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FFD166"/>
                </a:solidFill>
              </a:rPr>
              <a:t>04  IMPLÉMENTATION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 smtClean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Interface </a:t>
            </a: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graphique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63440" y="1097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</a:rPr>
              <a:t>Interface pygame interactive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508760"/>
            <a:ext cx="4206240" cy="749808"/>
          </a:xfrm>
          <a:prstGeom prst="rect">
            <a:avLst/>
          </a:prstGeom>
          <a:solidFill>
            <a:srgbClr val="1E2A3F"/>
          </a:solidFill>
          <a:ln w="12700">
            <a:solidFill>
              <a:srgbClr val="5A68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5544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Plateau 8×8 avec coordonnées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46320" y="18379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3CF"/>
                </a:solidFill>
              </a:rPr>
              <a:t>Cases accessibles en vert (déplacement) et rouge (capture)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2377440"/>
            <a:ext cx="4206240" cy="749808"/>
          </a:xfrm>
          <a:prstGeom prst="rect">
            <a:avLst/>
          </a:prstGeom>
          <a:solidFill>
            <a:srgbClr val="1E2A3F"/>
          </a:solidFill>
          <a:ln w="12700">
            <a:solidFill>
              <a:srgbClr val="5A68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4231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Slider d'itérations en direct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270662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3CF"/>
                </a:solidFill>
              </a:rPr>
              <a:t>100 à 4 000 itérations ajustables sans relancer le programme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3246120"/>
            <a:ext cx="4206240" cy="749808"/>
          </a:xfrm>
          <a:prstGeom prst="rect">
            <a:avLst/>
          </a:prstGeom>
          <a:solidFill>
            <a:srgbClr val="1E2A3F"/>
          </a:solidFill>
          <a:ln w="12700">
            <a:solidFill>
              <a:srgbClr val="5A68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3291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Panneau latéral temps réel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46320" y="357530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3CF"/>
                </a:solidFill>
              </a:rPr>
              <a:t>Tour courant, compteur, historique des 10 derniers coups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63440" y="4114800"/>
            <a:ext cx="4206240" cy="749808"/>
          </a:xfrm>
          <a:prstGeom prst="rect">
            <a:avLst/>
          </a:prstGeom>
          <a:solidFill>
            <a:srgbClr val="1E2A3F"/>
          </a:solidFill>
          <a:ln w="12700">
            <a:solidFill>
              <a:srgbClr val="5A68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4160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Démonstration en ligne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46320" y="444398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8B3CF"/>
                </a:solidFill>
              </a:rPr>
              <a:t>Visualisation MCTS : arbre, sélection UCT, rollouts — https://mctshjr.netlify.app/</a:t>
            </a:r>
            <a:endParaRPr lang="en-US" sz="950" dirty="0"/>
          </a:p>
        </p:txBody>
      </p:sp>
      <p:pic>
        <p:nvPicPr>
          <p:cNvPr id="1028" name="Picture 4" descr="https://cdn.gamma.app/6oalj2h27ftexph/imports/pptx/63f9d9f3ed43f460e667a5c0df9cafb3/v2/ba7a9201eadd4674994fa9b17103d23c/extracted/ppt/media/image-5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46" y="1257300"/>
            <a:ext cx="3978474" cy="3547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cdn.gamma.app/6oalj2h27ftexph/6505a86b5b364a7aae5c72ea0c1be02c/original/code.jpe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9731" y="4143840"/>
            <a:ext cx="698667" cy="691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F9E4F"/>
          </a:solidFill>
          <a:ln w="12700">
            <a:solidFill>
              <a:srgbClr val="FF9E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FF9E4F"/>
                </a:solidFill>
              </a:rPr>
              <a:t>05  RÉSULTATS — Évaluation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Impact du nombre d'itérations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964872" y="174983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8B3CF"/>
                </a:solidFill>
              </a:rPr>
              <a:t>IA forte (1 200 itr.) vs IA faibles (100–800 itr.) — 80 parties totales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13112" y="1002792"/>
            <a:ext cx="2651760" cy="1061535"/>
          </a:xfrm>
          <a:prstGeom prst="rect">
            <a:avLst/>
          </a:prstGeom>
          <a:solidFill>
            <a:srgbClr val="151D2E"/>
          </a:solidFill>
          <a:ln w="25400">
            <a:solidFill>
              <a:srgbClr val="00FFB2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-263236" y="1009442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0FF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895002" y="1325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Victoires IA Forte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9460" y="1677508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888"/>
                </a:solidFill>
              </a:rPr>
              <a:t>40 / 80 parties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91840" y="1002792"/>
            <a:ext cx="2651760" cy="1061535"/>
          </a:xfrm>
          <a:prstGeom prst="rect">
            <a:avLst/>
          </a:prstGeom>
          <a:solidFill>
            <a:srgbClr val="151D2E"/>
          </a:solidFill>
          <a:ln w="25400">
            <a:solidFill>
              <a:srgbClr val="FF9E4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715492" y="1001891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9E4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35%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3873730" y="13487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Victoires IA Faible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873730" y="1635252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888"/>
                </a:solidFill>
              </a:rPr>
              <a:t>28 / 80 parties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2792"/>
            <a:ext cx="2651760" cy="1061535"/>
          </a:xfrm>
          <a:prstGeom prst="rect">
            <a:avLst/>
          </a:prstGeom>
          <a:solidFill>
            <a:srgbClr val="151D2E"/>
          </a:solidFill>
          <a:ln w="25400">
            <a:solidFill>
              <a:srgbClr val="A8B3CF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550132" y="1001891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A8B3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15%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6708370" y="13258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Matchs Nuls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708371" y="1608097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A6888"/>
                </a:solidFill>
              </a:rPr>
              <a:t>12 / 80 parties</a:t>
            </a:r>
            <a:endParaRPr lang="en-US" sz="1000" dirty="0"/>
          </a:p>
        </p:txBody>
      </p:sp>
      <p:pic>
        <p:nvPicPr>
          <p:cNvPr id="19" name="Imag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569" y="2162071"/>
            <a:ext cx="4265320" cy="2876828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20" name="Shape 51"/>
          <p:cNvSpPr/>
          <p:nvPr/>
        </p:nvSpPr>
        <p:spPr>
          <a:xfrm>
            <a:off x="5550132" y="2937925"/>
            <a:ext cx="3228108" cy="1908395"/>
          </a:xfrm>
          <a:prstGeom prst="rect">
            <a:avLst/>
          </a:prstGeom>
          <a:solidFill>
            <a:srgbClr val="1A0E00"/>
          </a:solidFill>
          <a:ln w="15240">
            <a:solidFill>
              <a:srgbClr val="D4820A"/>
            </a:solidFill>
            <a:prstDash val="solid"/>
          </a:ln>
        </p:spPr>
      </p:sp>
      <p:sp>
        <p:nvSpPr>
          <p:cNvPr id="21" name="Text 53"/>
          <p:cNvSpPr/>
          <p:nvPr/>
        </p:nvSpPr>
        <p:spPr>
          <a:xfrm>
            <a:off x="5806440" y="3611880"/>
            <a:ext cx="2834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C7B6B"/>
                </a:solidFill>
              </a:rPr>
              <a:t>Le nombre d'itérations reste le premier facteur de performance dans MCTS — mais même à faible budget, nos heuristiques permettent à l'IA de tenir tête !</a:t>
            </a:r>
            <a:endParaRPr lang="en-US" sz="1100" dirty="0"/>
          </a:p>
        </p:txBody>
      </p:sp>
      <p:sp>
        <p:nvSpPr>
          <p:cNvPr id="22" name="Text 52"/>
          <p:cNvSpPr/>
          <p:nvPr/>
        </p:nvSpPr>
        <p:spPr>
          <a:xfrm>
            <a:off x="5806440" y="32004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820A"/>
                </a:solidFill>
              </a:rPr>
              <a:t>Constat clé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200" dirty="0">
                <a:solidFill>
                  <a:srgbClr val="00FFB2"/>
                </a:solidFill>
              </a:rPr>
              <a:t>05  RÉSULTATS — Évaluation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74965" y="430043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MCTS Amélioré vs MCTS Classique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909455" y="174011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8B3CF"/>
                </a:solidFill>
              </a:rPr>
              <a:t>25 parties par configuration (1 000, 2 000, 3 000 itérations) — premier joueur alterné</a:t>
            </a:r>
            <a:endParaRPr lang="en-US" sz="1100" dirty="0"/>
          </a:p>
        </p:txBody>
      </p:sp>
      <p:grpSp>
        <p:nvGrpSpPr>
          <p:cNvPr id="60" name="Groupe 59"/>
          <p:cNvGrpSpPr/>
          <p:nvPr/>
        </p:nvGrpSpPr>
        <p:grpSpPr>
          <a:xfrm>
            <a:off x="654148" y="978397"/>
            <a:ext cx="7680960" cy="1883664"/>
            <a:chOff x="365760" y="1343890"/>
            <a:chExt cx="7680960" cy="1883664"/>
          </a:xfrm>
        </p:grpSpPr>
        <p:sp>
          <p:nvSpPr>
            <p:cNvPr id="6" name="Shape 4"/>
            <p:cNvSpPr/>
            <p:nvPr/>
          </p:nvSpPr>
          <p:spPr>
            <a:xfrm>
              <a:off x="365760" y="1343890"/>
              <a:ext cx="1280160" cy="347472"/>
            </a:xfrm>
            <a:prstGeom prst="rect">
              <a:avLst/>
            </a:prstGeom>
            <a:solidFill>
              <a:srgbClr val="1E2A3F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365760" y="1343890"/>
              <a:ext cx="128016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C8FF"/>
                  </a:solidFill>
                </a:rPr>
                <a:t>Itérations</a:t>
              </a:r>
              <a:endParaRPr lang="en-US" sz="10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1645920" y="1343890"/>
              <a:ext cx="1828800" cy="347472"/>
            </a:xfrm>
            <a:prstGeom prst="rect">
              <a:avLst/>
            </a:prstGeom>
            <a:solidFill>
              <a:srgbClr val="1E2A3F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9" name="Text 7"/>
            <p:cNvSpPr/>
            <p:nvPr/>
          </p:nvSpPr>
          <p:spPr>
            <a:xfrm>
              <a:off x="1645920" y="134389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C8FF"/>
                  </a:solidFill>
                </a:rPr>
                <a:t>MCTS Amélioré</a:t>
              </a:r>
              <a:endParaRPr lang="en-US" sz="1000" dirty="0"/>
            </a:p>
          </p:txBody>
        </p:sp>
        <p:sp>
          <p:nvSpPr>
            <p:cNvPr id="10" name="Shape 8"/>
            <p:cNvSpPr/>
            <p:nvPr/>
          </p:nvSpPr>
          <p:spPr>
            <a:xfrm>
              <a:off x="3474720" y="1343890"/>
              <a:ext cx="1828800" cy="347472"/>
            </a:xfrm>
            <a:prstGeom prst="rect">
              <a:avLst/>
            </a:prstGeom>
            <a:solidFill>
              <a:srgbClr val="1E2A3F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3474720" y="1343890"/>
              <a:ext cx="182880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C8FF"/>
                  </a:solidFill>
                </a:rPr>
                <a:t>MCTS Classique</a:t>
              </a:r>
              <a:endParaRPr lang="en-US" sz="1000" dirty="0"/>
            </a:p>
          </p:txBody>
        </p:sp>
        <p:sp>
          <p:nvSpPr>
            <p:cNvPr id="12" name="Shape 10"/>
            <p:cNvSpPr/>
            <p:nvPr/>
          </p:nvSpPr>
          <p:spPr>
            <a:xfrm>
              <a:off x="5303520" y="1343890"/>
              <a:ext cx="1097280" cy="347472"/>
            </a:xfrm>
            <a:prstGeom prst="rect">
              <a:avLst/>
            </a:prstGeom>
            <a:solidFill>
              <a:srgbClr val="1E2A3F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13" name="Text 11"/>
            <p:cNvSpPr/>
            <p:nvPr/>
          </p:nvSpPr>
          <p:spPr>
            <a:xfrm>
              <a:off x="5303520" y="1343890"/>
              <a:ext cx="109728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C8FF"/>
                  </a:solidFill>
                </a:rPr>
                <a:t>Nuls</a:t>
              </a:r>
              <a:endParaRPr lang="en-US" sz="1000" dirty="0"/>
            </a:p>
          </p:txBody>
        </p:sp>
        <p:sp>
          <p:nvSpPr>
            <p:cNvPr id="14" name="Shape 12"/>
            <p:cNvSpPr/>
            <p:nvPr/>
          </p:nvSpPr>
          <p:spPr>
            <a:xfrm>
              <a:off x="6400800" y="1343890"/>
              <a:ext cx="1645920" cy="347472"/>
            </a:xfrm>
            <a:prstGeom prst="rect">
              <a:avLst/>
            </a:prstGeom>
            <a:solidFill>
              <a:srgbClr val="1E2A3F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15" name="Text 13"/>
            <p:cNvSpPr/>
            <p:nvPr/>
          </p:nvSpPr>
          <p:spPr>
            <a:xfrm>
              <a:off x="6400800" y="1343890"/>
              <a:ext cx="1645920" cy="347472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00C8FF"/>
                  </a:solidFill>
                </a:rPr>
                <a:t>Winrate</a:t>
              </a:r>
              <a:endParaRPr lang="en-US" sz="10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365760" y="1691362"/>
              <a:ext cx="1280160" cy="384048"/>
            </a:xfrm>
            <a:prstGeom prst="rect">
              <a:avLst/>
            </a:prstGeom>
            <a:solidFill>
              <a:srgbClr val="151D2E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17" name="Text 15"/>
            <p:cNvSpPr/>
            <p:nvPr/>
          </p:nvSpPr>
          <p:spPr>
            <a:xfrm>
              <a:off x="365760" y="1691362"/>
              <a:ext cx="128016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</a:rPr>
                <a:t>1 000</a:t>
              </a:r>
              <a:endParaRPr lang="en-US" sz="11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1645920" y="1691362"/>
              <a:ext cx="1828800" cy="384048"/>
            </a:xfrm>
            <a:prstGeom prst="rect">
              <a:avLst/>
            </a:prstGeom>
            <a:solidFill>
              <a:srgbClr val="151D2E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19" name="Text 17"/>
            <p:cNvSpPr/>
            <p:nvPr/>
          </p:nvSpPr>
          <p:spPr>
            <a:xfrm>
              <a:off x="1645920" y="1691362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FFB2"/>
                  </a:solidFill>
                </a:rPr>
                <a:t>17</a:t>
              </a:r>
              <a:endParaRPr lang="en-US" sz="1100" dirty="0"/>
            </a:p>
          </p:txBody>
        </p:sp>
        <p:sp>
          <p:nvSpPr>
            <p:cNvPr id="20" name="Shape 18"/>
            <p:cNvSpPr/>
            <p:nvPr/>
          </p:nvSpPr>
          <p:spPr>
            <a:xfrm>
              <a:off x="3474720" y="1691362"/>
              <a:ext cx="1828800" cy="384048"/>
            </a:xfrm>
            <a:prstGeom prst="rect">
              <a:avLst/>
            </a:prstGeom>
            <a:solidFill>
              <a:srgbClr val="151D2E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21" name="Text 19"/>
            <p:cNvSpPr/>
            <p:nvPr/>
          </p:nvSpPr>
          <p:spPr>
            <a:xfrm>
              <a:off x="3474720" y="1691362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6B6B"/>
                  </a:solidFill>
                </a:rPr>
                <a:t>2</a:t>
              </a:r>
              <a:endParaRPr lang="en-US" sz="1100" dirty="0"/>
            </a:p>
          </p:txBody>
        </p:sp>
        <p:sp>
          <p:nvSpPr>
            <p:cNvPr id="22" name="Shape 20"/>
            <p:cNvSpPr/>
            <p:nvPr/>
          </p:nvSpPr>
          <p:spPr>
            <a:xfrm>
              <a:off x="5303520" y="1691362"/>
              <a:ext cx="1097280" cy="384048"/>
            </a:xfrm>
            <a:prstGeom prst="rect">
              <a:avLst/>
            </a:prstGeom>
            <a:solidFill>
              <a:srgbClr val="151D2E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23" name="Text 21"/>
            <p:cNvSpPr/>
            <p:nvPr/>
          </p:nvSpPr>
          <p:spPr>
            <a:xfrm>
              <a:off x="5303520" y="1691362"/>
              <a:ext cx="1097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</a:rPr>
                <a:t>6</a:t>
              </a:r>
              <a:endParaRPr lang="en-US" sz="1100" dirty="0"/>
            </a:p>
          </p:txBody>
        </p:sp>
        <p:sp>
          <p:nvSpPr>
            <p:cNvPr id="24" name="Shape 22"/>
            <p:cNvSpPr/>
            <p:nvPr/>
          </p:nvSpPr>
          <p:spPr>
            <a:xfrm>
              <a:off x="6400800" y="1691362"/>
              <a:ext cx="1645920" cy="384048"/>
            </a:xfrm>
            <a:prstGeom prst="rect">
              <a:avLst/>
            </a:prstGeom>
            <a:solidFill>
              <a:srgbClr val="151D2E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25" name="Text 23"/>
            <p:cNvSpPr/>
            <p:nvPr/>
          </p:nvSpPr>
          <p:spPr>
            <a:xfrm>
              <a:off x="6400800" y="1691362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</a:rPr>
                <a:t>68,0 %</a:t>
              </a:r>
              <a:endParaRPr lang="en-US" sz="1100" dirty="0"/>
            </a:p>
          </p:txBody>
        </p:sp>
        <p:sp>
          <p:nvSpPr>
            <p:cNvPr id="26" name="Shape 24"/>
            <p:cNvSpPr/>
            <p:nvPr/>
          </p:nvSpPr>
          <p:spPr>
            <a:xfrm>
              <a:off x="365760" y="2075410"/>
              <a:ext cx="1280160" cy="384048"/>
            </a:xfrm>
            <a:prstGeom prst="rect">
              <a:avLst/>
            </a:prstGeom>
            <a:solidFill>
              <a:srgbClr val="151D2E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365760" y="2075410"/>
              <a:ext cx="128016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</a:rPr>
                <a:t>2 000</a:t>
              </a:r>
              <a:endParaRPr lang="en-US" sz="1100" dirty="0"/>
            </a:p>
          </p:txBody>
        </p:sp>
        <p:sp>
          <p:nvSpPr>
            <p:cNvPr id="28" name="Shape 26"/>
            <p:cNvSpPr/>
            <p:nvPr/>
          </p:nvSpPr>
          <p:spPr>
            <a:xfrm>
              <a:off x="1645920" y="2075410"/>
              <a:ext cx="1828800" cy="384048"/>
            </a:xfrm>
            <a:prstGeom prst="rect">
              <a:avLst/>
            </a:prstGeom>
            <a:solidFill>
              <a:srgbClr val="151D2E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29" name="Text 27"/>
            <p:cNvSpPr/>
            <p:nvPr/>
          </p:nvSpPr>
          <p:spPr>
            <a:xfrm>
              <a:off x="1645920" y="2075410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FFB2"/>
                  </a:solidFill>
                </a:rPr>
                <a:t>20</a:t>
              </a:r>
              <a:endParaRPr lang="en-US" sz="11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3474720" y="2075410"/>
              <a:ext cx="1828800" cy="384048"/>
            </a:xfrm>
            <a:prstGeom prst="rect">
              <a:avLst/>
            </a:prstGeom>
            <a:solidFill>
              <a:srgbClr val="151D2E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31" name="Text 29"/>
            <p:cNvSpPr/>
            <p:nvPr/>
          </p:nvSpPr>
          <p:spPr>
            <a:xfrm>
              <a:off x="3474720" y="2075410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6B6B"/>
                  </a:solidFill>
                </a:rPr>
                <a:t>0</a:t>
              </a:r>
              <a:endParaRPr lang="en-US" sz="1100" dirty="0"/>
            </a:p>
          </p:txBody>
        </p:sp>
        <p:sp>
          <p:nvSpPr>
            <p:cNvPr id="32" name="Shape 30"/>
            <p:cNvSpPr/>
            <p:nvPr/>
          </p:nvSpPr>
          <p:spPr>
            <a:xfrm>
              <a:off x="5303520" y="2075410"/>
              <a:ext cx="1097280" cy="384048"/>
            </a:xfrm>
            <a:prstGeom prst="rect">
              <a:avLst/>
            </a:prstGeom>
            <a:solidFill>
              <a:srgbClr val="151D2E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33" name="Text 31"/>
            <p:cNvSpPr/>
            <p:nvPr/>
          </p:nvSpPr>
          <p:spPr>
            <a:xfrm>
              <a:off x="5303520" y="2075410"/>
              <a:ext cx="1097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</a:rPr>
                <a:t>5</a:t>
              </a:r>
              <a:endParaRPr lang="en-US" sz="1100" dirty="0"/>
            </a:p>
          </p:txBody>
        </p:sp>
        <p:sp>
          <p:nvSpPr>
            <p:cNvPr id="34" name="Shape 32"/>
            <p:cNvSpPr/>
            <p:nvPr/>
          </p:nvSpPr>
          <p:spPr>
            <a:xfrm>
              <a:off x="6400800" y="2075410"/>
              <a:ext cx="1645920" cy="384048"/>
            </a:xfrm>
            <a:prstGeom prst="rect">
              <a:avLst/>
            </a:prstGeom>
            <a:solidFill>
              <a:srgbClr val="151D2E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35" name="Text 33"/>
            <p:cNvSpPr/>
            <p:nvPr/>
          </p:nvSpPr>
          <p:spPr>
            <a:xfrm>
              <a:off x="6400800" y="2075410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</a:rPr>
                <a:t>80,0 %</a:t>
              </a:r>
              <a:endParaRPr lang="en-US" sz="1100" dirty="0"/>
            </a:p>
          </p:txBody>
        </p:sp>
        <p:sp>
          <p:nvSpPr>
            <p:cNvPr id="36" name="Shape 34"/>
            <p:cNvSpPr/>
            <p:nvPr/>
          </p:nvSpPr>
          <p:spPr>
            <a:xfrm>
              <a:off x="365760" y="2459458"/>
              <a:ext cx="1280160" cy="384048"/>
            </a:xfrm>
            <a:prstGeom prst="rect">
              <a:avLst/>
            </a:prstGeom>
            <a:solidFill>
              <a:srgbClr val="151D2E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37" name="Text 35"/>
            <p:cNvSpPr/>
            <p:nvPr/>
          </p:nvSpPr>
          <p:spPr>
            <a:xfrm>
              <a:off x="365760" y="2459458"/>
              <a:ext cx="128016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</a:rPr>
                <a:t>3 000</a:t>
              </a:r>
              <a:endParaRPr lang="en-US" sz="1100" dirty="0"/>
            </a:p>
          </p:txBody>
        </p:sp>
        <p:sp>
          <p:nvSpPr>
            <p:cNvPr id="38" name="Shape 36"/>
            <p:cNvSpPr/>
            <p:nvPr/>
          </p:nvSpPr>
          <p:spPr>
            <a:xfrm>
              <a:off x="1645920" y="2459458"/>
              <a:ext cx="1828800" cy="384048"/>
            </a:xfrm>
            <a:prstGeom prst="rect">
              <a:avLst/>
            </a:prstGeom>
            <a:solidFill>
              <a:srgbClr val="151D2E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39" name="Text 37"/>
            <p:cNvSpPr/>
            <p:nvPr/>
          </p:nvSpPr>
          <p:spPr>
            <a:xfrm>
              <a:off x="1645920" y="2459458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00FFB2"/>
                  </a:solidFill>
                </a:rPr>
                <a:t>17</a:t>
              </a:r>
              <a:endParaRPr lang="en-US" sz="1100" dirty="0"/>
            </a:p>
          </p:txBody>
        </p:sp>
        <p:sp>
          <p:nvSpPr>
            <p:cNvPr id="40" name="Shape 38"/>
            <p:cNvSpPr/>
            <p:nvPr/>
          </p:nvSpPr>
          <p:spPr>
            <a:xfrm>
              <a:off x="3474720" y="2459458"/>
              <a:ext cx="1828800" cy="384048"/>
            </a:xfrm>
            <a:prstGeom prst="rect">
              <a:avLst/>
            </a:prstGeom>
            <a:solidFill>
              <a:srgbClr val="151D2E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41" name="Text 39"/>
            <p:cNvSpPr/>
            <p:nvPr/>
          </p:nvSpPr>
          <p:spPr>
            <a:xfrm>
              <a:off x="3474720" y="2459458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6B6B"/>
                  </a:solidFill>
                </a:rPr>
                <a:t>1</a:t>
              </a:r>
              <a:endParaRPr lang="en-US" sz="1100" dirty="0"/>
            </a:p>
          </p:txBody>
        </p:sp>
        <p:sp>
          <p:nvSpPr>
            <p:cNvPr id="42" name="Shape 40"/>
            <p:cNvSpPr/>
            <p:nvPr/>
          </p:nvSpPr>
          <p:spPr>
            <a:xfrm>
              <a:off x="5303520" y="2459458"/>
              <a:ext cx="1097280" cy="384048"/>
            </a:xfrm>
            <a:prstGeom prst="rect">
              <a:avLst/>
            </a:prstGeom>
            <a:solidFill>
              <a:srgbClr val="151D2E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43" name="Text 41"/>
            <p:cNvSpPr/>
            <p:nvPr/>
          </p:nvSpPr>
          <p:spPr>
            <a:xfrm>
              <a:off x="5303520" y="2459458"/>
              <a:ext cx="1097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</a:rPr>
                <a:t>7</a:t>
              </a:r>
              <a:endParaRPr lang="en-US" sz="1100" dirty="0"/>
            </a:p>
          </p:txBody>
        </p:sp>
        <p:sp>
          <p:nvSpPr>
            <p:cNvPr id="44" name="Shape 42"/>
            <p:cNvSpPr/>
            <p:nvPr/>
          </p:nvSpPr>
          <p:spPr>
            <a:xfrm>
              <a:off x="6400800" y="2459458"/>
              <a:ext cx="1645920" cy="384048"/>
            </a:xfrm>
            <a:prstGeom prst="rect">
              <a:avLst/>
            </a:prstGeom>
            <a:solidFill>
              <a:srgbClr val="151D2E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45" name="Text 43"/>
            <p:cNvSpPr/>
            <p:nvPr/>
          </p:nvSpPr>
          <p:spPr>
            <a:xfrm>
              <a:off x="6400800" y="2459458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FFFFFF"/>
                  </a:solidFill>
                </a:rPr>
                <a:t>68,0 %</a:t>
              </a:r>
              <a:endParaRPr lang="en-US" sz="1100" dirty="0"/>
            </a:p>
          </p:txBody>
        </p:sp>
        <p:sp>
          <p:nvSpPr>
            <p:cNvPr id="46" name="Shape 44"/>
            <p:cNvSpPr/>
            <p:nvPr/>
          </p:nvSpPr>
          <p:spPr>
            <a:xfrm>
              <a:off x="365760" y="2843506"/>
              <a:ext cx="1280160" cy="384048"/>
            </a:xfrm>
            <a:prstGeom prst="rect">
              <a:avLst/>
            </a:prstGeom>
            <a:solidFill>
              <a:srgbClr val="001F10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47" name="Text 45"/>
            <p:cNvSpPr/>
            <p:nvPr/>
          </p:nvSpPr>
          <p:spPr>
            <a:xfrm>
              <a:off x="365760" y="2843506"/>
              <a:ext cx="128016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</a:rPr>
                <a:t>TOTAL</a:t>
              </a:r>
              <a:endParaRPr lang="en-US" sz="12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1645920" y="2843506"/>
              <a:ext cx="1828800" cy="384048"/>
            </a:xfrm>
            <a:prstGeom prst="rect">
              <a:avLst/>
            </a:prstGeom>
            <a:solidFill>
              <a:srgbClr val="001F10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49" name="Text 47"/>
            <p:cNvSpPr/>
            <p:nvPr/>
          </p:nvSpPr>
          <p:spPr>
            <a:xfrm>
              <a:off x="1645920" y="2843506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0FFB2"/>
                  </a:solidFill>
                </a:rPr>
                <a:t>54</a:t>
              </a:r>
              <a:endParaRPr lang="en-US" sz="1200" dirty="0"/>
            </a:p>
          </p:txBody>
        </p:sp>
        <p:sp>
          <p:nvSpPr>
            <p:cNvPr id="50" name="Shape 48"/>
            <p:cNvSpPr/>
            <p:nvPr/>
          </p:nvSpPr>
          <p:spPr>
            <a:xfrm>
              <a:off x="3474720" y="2843506"/>
              <a:ext cx="1828800" cy="384048"/>
            </a:xfrm>
            <a:prstGeom prst="rect">
              <a:avLst/>
            </a:prstGeom>
            <a:solidFill>
              <a:srgbClr val="001F10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51" name="Text 49"/>
            <p:cNvSpPr/>
            <p:nvPr/>
          </p:nvSpPr>
          <p:spPr>
            <a:xfrm>
              <a:off x="3474720" y="2843506"/>
              <a:ext cx="182880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6B6B"/>
                  </a:solidFill>
                </a:rPr>
                <a:t>3</a:t>
              </a:r>
              <a:endParaRPr lang="en-US" sz="1200" dirty="0"/>
            </a:p>
          </p:txBody>
        </p:sp>
        <p:sp>
          <p:nvSpPr>
            <p:cNvPr id="52" name="Shape 50"/>
            <p:cNvSpPr/>
            <p:nvPr/>
          </p:nvSpPr>
          <p:spPr>
            <a:xfrm>
              <a:off x="5303520" y="2843506"/>
              <a:ext cx="1097280" cy="384048"/>
            </a:xfrm>
            <a:prstGeom prst="rect">
              <a:avLst/>
            </a:prstGeom>
            <a:solidFill>
              <a:srgbClr val="001F10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53" name="Text 51"/>
            <p:cNvSpPr/>
            <p:nvPr/>
          </p:nvSpPr>
          <p:spPr>
            <a:xfrm>
              <a:off x="5303520" y="2843506"/>
              <a:ext cx="109728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A8B3CF"/>
                  </a:solidFill>
                </a:rPr>
                <a:t>18</a:t>
              </a:r>
              <a:endParaRPr lang="en-US" sz="1200" dirty="0"/>
            </a:p>
          </p:txBody>
        </p:sp>
        <p:sp>
          <p:nvSpPr>
            <p:cNvPr id="54" name="Shape 52"/>
            <p:cNvSpPr/>
            <p:nvPr/>
          </p:nvSpPr>
          <p:spPr>
            <a:xfrm>
              <a:off x="6400800" y="2843506"/>
              <a:ext cx="1645920" cy="384048"/>
            </a:xfrm>
            <a:prstGeom prst="rect">
              <a:avLst/>
            </a:prstGeom>
            <a:solidFill>
              <a:srgbClr val="001F10"/>
            </a:solidFill>
            <a:ln w="6350">
              <a:solidFill>
                <a:srgbClr val="5A6888"/>
              </a:solidFill>
              <a:prstDash val="solid"/>
            </a:ln>
          </p:spPr>
        </p:sp>
        <p:sp>
          <p:nvSpPr>
            <p:cNvPr id="55" name="Text 53"/>
            <p:cNvSpPr/>
            <p:nvPr/>
          </p:nvSpPr>
          <p:spPr>
            <a:xfrm>
              <a:off x="6400800" y="2843506"/>
              <a:ext cx="1645920" cy="38404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D166"/>
                  </a:solidFill>
                </a:rPr>
                <a:t>72,0 %</a:t>
              </a:r>
              <a:endParaRPr lang="en-US" sz="1200" dirty="0"/>
            </a:p>
          </p:txBody>
        </p:sp>
      </p:grpSp>
      <p:sp>
        <p:nvSpPr>
          <p:cNvPr id="56" name="Shape 54"/>
          <p:cNvSpPr/>
          <p:nvPr/>
        </p:nvSpPr>
        <p:spPr>
          <a:xfrm>
            <a:off x="4941278" y="3030664"/>
            <a:ext cx="3836962" cy="1989080"/>
          </a:xfrm>
          <a:prstGeom prst="rect">
            <a:avLst/>
          </a:prstGeom>
          <a:solidFill>
            <a:srgbClr val="001F10"/>
          </a:solidFill>
          <a:ln w="25400">
            <a:solidFill>
              <a:srgbClr val="00FFB2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941278" y="3030664"/>
            <a:ext cx="3624986" cy="13173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FFB2"/>
                </a:solidFill>
              </a:rPr>
              <a:t>🏆  72% de Winrate Global  |  54 victoires sur 75 parties  |  MCTS Amélioré domine toutes les configurations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4941278" y="4009293"/>
            <a:ext cx="3863287" cy="7760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i="1" dirty="0" smtClean="0">
                <a:solidFill>
                  <a:srgbClr val="FFD166"/>
                </a:solidFill>
              </a:rPr>
              <a:t>→ </a:t>
            </a:r>
            <a:r>
              <a:rPr lang="fr-FR" sz="1100" i="1" dirty="0">
                <a:solidFill>
                  <a:srgbClr val="FFD166"/>
                </a:solidFill>
              </a:rPr>
              <a:t>L'écart se creuse avec le nombre d'itérations : nos heuristiques ont le temps de s'exprimer dans un arbre plus profond.</a:t>
            </a:r>
          </a:p>
        </p:txBody>
      </p:sp>
      <p:pic>
        <p:nvPicPr>
          <p:cNvPr id="59" name="Image 5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030664"/>
            <a:ext cx="3770141" cy="2065105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9B5DE5"/>
                </a:solidFill>
              </a:rPr>
              <a:t>VALEUR AJOUTÉE DU TRAVAIL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que nos contributions apportent réellement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4114800" cy="1508760"/>
          </a:xfrm>
          <a:prstGeom prst="rect">
            <a:avLst/>
          </a:prstGeom>
          <a:solidFill>
            <a:srgbClr val="151D2E"/>
          </a:solidFill>
          <a:ln w="25400">
            <a:solidFill>
              <a:srgbClr val="9B5DE5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1252728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234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B5DE5"/>
                </a:solidFill>
              </a:rPr>
              <a:t>Heuristiques ciblées, pas d'apprentissage lourd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75488" y="1783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F"/>
                </a:solidFill>
              </a:rPr>
              <a:t>Performances comparables à des approches complexes avec une architecture simple et transparente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800600" y="1143000"/>
            <a:ext cx="4114800" cy="1508760"/>
          </a:xfrm>
          <a:prstGeom prst="rect">
            <a:avLst/>
          </a:prstGeom>
          <a:solidFill>
            <a:srgbClr val="151D2E"/>
          </a:solidFill>
          <a:ln w="25400">
            <a:solidFill>
              <a:srgbClr val="FFD166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1252728"/>
            <a:ext cx="502920" cy="5029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86400" y="123444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D166"/>
                </a:solidFill>
              </a:rPr>
              <a:t>Score continu sigmoïde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10328" y="17830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F"/>
                </a:solidFill>
              </a:rPr>
              <a:t>Remplace la binarité 0/1 par une estimation nuancée — réduction de la variance, convergence plus rapide de l'arbre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65760" y="2834640"/>
            <a:ext cx="4114800" cy="1508760"/>
          </a:xfrm>
          <a:prstGeom prst="rect">
            <a:avLst/>
          </a:prstGeom>
          <a:solidFill>
            <a:srgbClr val="151D2E"/>
          </a:solidFill>
          <a:ln w="25400">
            <a:solidFill>
              <a:srgbClr val="00FFB2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" y="2944368"/>
            <a:ext cx="502920" cy="5029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2926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FFB2"/>
                </a:solidFill>
              </a:rPr>
              <a:t>Interface pédagogique complète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75488" y="34747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F"/>
                </a:solidFill>
              </a:rPr>
              <a:t>Slider temps réel, démonstration web interactive — rend l'algorithme observable et compréhensible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800600" y="2834640"/>
            <a:ext cx="4114800" cy="1508760"/>
          </a:xfrm>
          <a:prstGeom prst="rect">
            <a:avLst/>
          </a:prstGeom>
          <a:solidFill>
            <a:srgbClr val="151D2E"/>
          </a:solidFill>
          <a:ln w="25400">
            <a:solidFill>
              <a:srgbClr val="FF9E4F"/>
            </a:solidFill>
            <a:prstDash val="solid"/>
          </a:ln>
          <a:effectLst>
            <a:outerShdw blurRad="152400" dist="38100" dir="8100000" algn="bl" rotWithShape="0">
              <a:srgbClr val="000000">
                <a:alpha val="35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2944368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486400" y="2926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9E4F"/>
                </a:solidFill>
              </a:rPr>
              <a:t>+72% winrate vs MCTS classique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910328" y="347472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F"/>
                </a:solidFill>
              </a:rPr>
              <a:t>Gain concret et mesurable, cohérent sur toutes les configurations testées — résultats robustes</a:t>
            </a:r>
            <a:endParaRPr lang="en-US" sz="10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kern="0" spc="300" dirty="0">
                <a:solidFill>
                  <a:srgbClr val="00C8FF"/>
                </a:solidFill>
              </a:rPr>
              <a:t>LIMITES &amp; PERSPECTIVES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 qu'on n'a pas encore résolu — ce qu'on peut faire ensuite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B6B"/>
                </a:solidFill>
              </a:rPr>
              <a:t>LIMITES ACTUELLES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3931920" cy="594360"/>
          </a:xfrm>
          <a:prstGeom prst="rect">
            <a:avLst/>
          </a:prstGeom>
          <a:solidFill>
            <a:srgbClr val="FF6B6B">
              <a:alpha val="12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6304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F"/>
                </a:solidFill>
              </a:rPr>
              <a:t>Nature stochastique : variance encore significative sur petit échantillon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3931920" cy="594360"/>
          </a:xfrm>
          <a:prstGeom prst="rect">
            <a:avLst/>
          </a:prstGeom>
          <a:solidFill>
            <a:srgbClr val="FF6B6B">
              <a:alpha val="12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19456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F"/>
                </a:solidFill>
              </a:rPr>
              <a:t>Pondérations heuristiques fixées empiriquement, non optimisées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2926080"/>
            <a:ext cx="3931920" cy="594360"/>
          </a:xfrm>
          <a:prstGeom prst="rect">
            <a:avLst/>
          </a:prstGeom>
          <a:solidFill>
            <a:srgbClr val="FF6B6B">
              <a:alpha val="12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926080"/>
            <a:ext cx="3657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F"/>
                </a:solidFill>
              </a:rPr>
              <a:t>Implémentation séquentielle (pas de parallélisation multi-cœurs)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46320" y="10972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FFB2"/>
                </a:solidFill>
              </a:rPr>
              <a:t>PERSPECTIVES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46320" y="1463040"/>
            <a:ext cx="3931920" cy="594360"/>
          </a:xfrm>
          <a:prstGeom prst="rect">
            <a:avLst/>
          </a:prstGeom>
          <a:solidFill>
            <a:srgbClr val="00FFB2">
              <a:alpha val="10000"/>
            </a:srgbClr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4630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B2"/>
                </a:solidFill>
              </a:rPr>
              <a:t>RAVE : 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146304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F"/>
                </a:solidFill>
              </a:rPr>
              <a:t>Rapid Action Value Estimation — partage des stats entre nœuds similaires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46320" y="2194560"/>
            <a:ext cx="3931920" cy="594360"/>
          </a:xfrm>
          <a:prstGeom prst="rect">
            <a:avLst/>
          </a:prstGeom>
          <a:solidFill>
            <a:srgbClr val="00FFB2">
              <a:alpha val="10000"/>
            </a:srgbClr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1945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B2"/>
                </a:solidFill>
              </a:rPr>
              <a:t>Parallélisation : 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89320" y="2194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F"/>
                </a:solidFill>
              </a:rPr>
              <a:t>Multi-cœurs Python → ×2/×3 simulations à temps égal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3931920" cy="594360"/>
          </a:xfrm>
          <a:prstGeom prst="rect">
            <a:avLst/>
          </a:prstGeom>
          <a:solidFill>
            <a:srgbClr val="00FFB2">
              <a:alpha val="10000"/>
            </a:srgbClr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292608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FFB2"/>
                </a:solidFill>
              </a:rPr>
              <a:t>TD-Learning / Réseau : 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89320" y="2926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8B3CF"/>
                </a:solidFill>
              </a:rPr>
              <a:t>Optimiser les pondérations ou remplacer par un réseau léger (AlphaZero-like)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1E2A3F"/>
          </a:solidFill>
          <a:ln w="12700">
            <a:solidFill>
              <a:srgbClr val="5A68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4348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8B3CF"/>
                </a:solidFill>
              </a:rPr>
              <a:t>Ces pistes permettraient d'approcher progressivement l'esprit d'AlphaZero à échelle académique.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00FFB2">
              <a:alpha val="7000"/>
            </a:srgbClr>
          </a:solidFill>
          <a:ln w="12700">
            <a:solidFill>
              <a:srgbClr val="00FFB2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2286000"/>
            <a:ext cx="3200400" cy="3200400"/>
          </a:xfrm>
          <a:prstGeom prst="ellipse">
            <a:avLst/>
          </a:prstGeom>
          <a:solidFill>
            <a:srgbClr val="00C8FF">
              <a:alpha val="8000"/>
            </a:srgbClr>
          </a:solidFill>
          <a:ln w="12700">
            <a:solidFill>
              <a:srgbClr val="00C8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500" dirty="0">
                <a:solidFill>
                  <a:srgbClr val="00FFB2"/>
                </a:solidFill>
              </a:rPr>
              <a:t>CONCLUSION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MCTS + Heuristiques </a:t>
            </a:r>
            <a:r>
              <a:rPr lang="en-US" sz="3400" b="1" dirty="0">
                <a:solidFill>
                  <a:srgbClr val="00FFB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 IA Efficace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7772400" cy="868680"/>
          </a:xfrm>
          <a:prstGeom prst="rect">
            <a:avLst/>
          </a:prstGeom>
          <a:solidFill>
            <a:srgbClr val="151D2E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99616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Problème résolu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810512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F"/>
                </a:solidFill>
              </a:rPr>
              <a:t>MCTS enrichi de rollouts guidés et d'un score continu produit une IA correcte et robuste, sans deep learning.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487168"/>
            <a:ext cx="7772400" cy="868680"/>
          </a:xfrm>
          <a:prstGeom prst="rect">
            <a:avLst/>
          </a:prstGeom>
          <a:solidFill>
            <a:srgbClr val="151D2E"/>
          </a:solidFill>
          <a:ln w="25400">
            <a:solidFill>
              <a:srgbClr val="00FF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523744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Résultats concrets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834640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F"/>
                </a:solidFill>
              </a:rPr>
              <a:t>72% de winrate global vs MCTS classique — l'écart augmente avec les itérations.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511296"/>
            <a:ext cx="7772400" cy="868680"/>
          </a:xfrm>
          <a:prstGeom prst="rect">
            <a:avLst/>
          </a:prstGeom>
          <a:solidFill>
            <a:srgbClr val="151D2E"/>
          </a:solidFill>
          <a:ln w="12700">
            <a:solidFill>
              <a:srgbClr val="1E2A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547872"/>
            <a:ext cx="6858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Base solide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858768"/>
            <a:ext cx="6858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3CF"/>
                </a:solidFill>
              </a:rPr>
              <a:t>Architecture modulaire, interface pédagogique, démo interactive — une fondation pour aller plus loin.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663440"/>
            <a:ext cx="7772400" cy="36576"/>
          </a:xfrm>
          <a:prstGeom prst="rect">
            <a:avLst/>
          </a:prstGeom>
          <a:solidFill>
            <a:srgbClr val="00FFB2"/>
          </a:solidFill>
          <a:ln w="12700">
            <a:solidFill>
              <a:srgbClr val="00FFB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888"/>
                </a:solidFill>
              </a:rPr>
              <a:t>Merci de votre attention — Questions ?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1119</Words>
  <Application>Microsoft Office PowerPoint</Application>
  <PresentationFormat>Affichage à l'écran (16:9)</PresentationFormat>
  <Paragraphs>212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Consolas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Imbattable au Jeu de Dames — MCTS Amélioré</dc:title>
  <dc:subject>PptxGenJS Presentation</dc:subject>
  <dc:creator>PptxGenJS</dc:creator>
  <cp:lastModifiedBy>HDC</cp:lastModifiedBy>
  <cp:revision>8</cp:revision>
  <dcterms:created xsi:type="dcterms:W3CDTF">2026-05-19T21:30:31Z</dcterms:created>
  <dcterms:modified xsi:type="dcterms:W3CDTF">2026-05-20T11:06:09Z</dcterms:modified>
</cp:coreProperties>
</file>